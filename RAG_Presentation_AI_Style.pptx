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457200"/>
            <a:ext cx="1828800" cy="1828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5486400"/>
            <a:ext cx="1371600" cy="1371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Arial"/>
              </a:defRPr>
            </a:pPr>
            <a:r>
              <a:t>RAG-система для работы с документами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  <a:latin typeface="Arial"/>
              </a:defRPr>
            </a:pPr>
            <a:r>
              <a:t>Интеллектуальный поиск и генерация ответов на основе GigaChat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572000"/>
            <a:ext cx="36576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Описание проекта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Проблема: Большие объемы документов сложно анализировать вручную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Решение: RAG-система (Retrieval-Augmented Generation)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Ключевые возможности: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– Загрузка PDF, YouTube-видео, веб-страниц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– Семантический поиск по документам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– Генерация ответов с цитированием источников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– Поддержка русского языка (GigaChat)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Архитектура RAG-системы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1188720" y="2468880"/>
            <a:ext cx="73152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3017520" y="2468880"/>
            <a:ext cx="73152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4846320" y="2468880"/>
            <a:ext cx="73152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675120" y="2468880"/>
            <a:ext cx="73152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463040" cy="1097280"/>
          </a:xfrm>
          <a:prstGeom prst="roundRect">
            <a:avLst/>
          </a:prstGeom>
          <a:solidFill>
            <a:srgbClr val="6366F1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8FAFC"/>
                </a:solidFill>
                <a:latin typeface="Arial"/>
              </a:defRPr>
            </a:pPr>
            <a:r>
              <a:t>Документы</a:t>
            </a:r>
            <a:br/>
            <a:r>
              <a:t>(PDF, YouTube,</a:t>
            </a:r>
            <a:br/>
            <a:r>
              <a:t>Web)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828800"/>
            <a:ext cx="1463040" cy="1097280"/>
          </a:xfrm>
          <a:prstGeom prst="roundRect">
            <a:avLst/>
          </a:prstGeom>
          <a:solidFill>
            <a:srgbClr val="A855F7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1031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8FAFC"/>
                </a:solidFill>
                <a:latin typeface="Arial"/>
              </a:defRPr>
            </a:pPr>
            <a:r>
              <a:t>Загрузка</a:t>
            </a:r>
            <a:br/>
            <a:r>
              <a:t>данных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828800"/>
            <a:ext cx="1463040" cy="1097280"/>
          </a:xfrm>
          <a:prstGeom prst="roundRect">
            <a:avLst/>
          </a:prstGeom>
          <a:solidFill>
            <a:srgbClr val="06B6D4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21031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8FAFC"/>
                </a:solidFill>
                <a:latin typeface="Arial"/>
              </a:defRPr>
            </a:pPr>
            <a:r>
              <a:t>Разбиение</a:t>
            </a:r>
            <a:br/>
            <a:r>
              <a:t>на чанки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828800"/>
            <a:ext cx="1463040" cy="1097280"/>
          </a:xfrm>
          <a:prstGeom prst="roundRect">
            <a:avLst/>
          </a:prstGeom>
          <a:solidFill>
            <a:srgbClr val="6366F1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8FAFC"/>
                </a:solidFill>
                <a:latin typeface="Arial"/>
              </a:defRPr>
            </a:pPr>
            <a:r>
              <a:t>Векторизация</a:t>
            </a:r>
            <a:br/>
            <a:r>
              <a:t>(embeddings)</a:t>
            </a:r>
          </a:p>
        </p:txBody>
      </p:sp>
      <p:sp>
        <p:nvSpPr>
          <p:cNvPr id="17" name="Can 16"/>
          <p:cNvSpPr/>
          <p:nvPr/>
        </p:nvSpPr>
        <p:spPr>
          <a:xfrm>
            <a:off x="7772400" y="1828800"/>
            <a:ext cx="1463040" cy="1097280"/>
          </a:xfrm>
          <a:prstGeom prst="can">
            <a:avLst/>
          </a:prstGeom>
          <a:solidFill>
            <a:srgbClr val="A855F7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031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8FAFC"/>
                </a:solidFill>
                <a:latin typeface="Arial"/>
              </a:defRPr>
            </a:pPr>
            <a:r>
              <a:t>ChromaDB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14800"/>
            <a:ext cx="2286000" cy="731520"/>
          </a:xfrm>
          <a:prstGeom prst="roundRect">
            <a:avLst/>
          </a:prstGeom>
          <a:solidFill>
            <a:srgbClr val="06B6D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  <a:latin typeface="Arial"/>
              </a:defRPr>
            </a:pPr>
            <a:r>
              <a:t>Запрос пользователя</a:t>
            </a:r>
          </a:p>
        </p:txBody>
      </p:sp>
      <p:sp>
        <p:nvSpPr>
          <p:cNvPr id="21" name="Up Arrow 20"/>
          <p:cNvSpPr/>
          <p:nvPr/>
        </p:nvSpPr>
        <p:spPr>
          <a:xfrm>
            <a:off x="2011680" y="3474720"/>
            <a:ext cx="365760" cy="548640"/>
          </a:xfrm>
          <a:prstGeom prst="up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0" y="4114800"/>
            <a:ext cx="1828800" cy="731520"/>
          </a:xfrm>
          <a:prstGeom prst="roundRect">
            <a:avLst/>
          </a:prstGeom>
          <a:solidFill>
            <a:srgbClr val="6366F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206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  <a:latin typeface="Arial"/>
              </a:defRPr>
            </a:pPr>
            <a:r>
              <a:t>Поиск контекста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669280" y="4297680"/>
            <a:ext cx="548640" cy="36576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4114800"/>
            <a:ext cx="2286000" cy="731520"/>
          </a:xfrm>
          <a:prstGeom prst="roundRect">
            <a:avLst/>
          </a:prstGeom>
          <a:solidFill>
            <a:srgbClr val="A855F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2062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  <a:latin typeface="Arial"/>
              </a:defRPr>
            </a:pPr>
            <a:r>
              <a:t>GigaChat (LLM)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303520"/>
            <a:ext cx="2286000" cy="731520"/>
          </a:xfrm>
          <a:prstGeom prst="roundRect">
            <a:avLst/>
          </a:prstGeom>
          <a:solidFill>
            <a:srgbClr val="22C55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3949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  <a:latin typeface="Arial"/>
              </a:defRPr>
            </a:pPr>
            <a:r>
              <a:t>Ответ с цитатами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498079" y="4937760"/>
            <a:ext cx="365760" cy="36576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Модели и технологии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LLM: GigaChat (Pro/Nano) — русскоязычная модель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Embeddings: GigaChat Embeddings / Sentence Transformers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Vector DB: ChromaDB — легковесное векторное хранилище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Framework: LangChain — оркестрация пайплайнов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Frontend: Streamlit — интерактивный интерфейс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Дополнительно: Whisper (транскрибация), OpenCV (обработка видео)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Этап 1: Подготовка данных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с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т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ч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к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д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а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ы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х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–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P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D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F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-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д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к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у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м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е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т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ы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(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P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y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P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D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F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2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,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p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d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f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p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l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u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m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b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e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r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Этап 2: Индексация документов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Ч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а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к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р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в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а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е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(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р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а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з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б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е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е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а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ф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р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а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г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м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е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т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ы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)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–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R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e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c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u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r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s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i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v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e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C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h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a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r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a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c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t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e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r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T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e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x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t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S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p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l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i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t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t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e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Этап 3: Поиск и генерация ответа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Г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б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р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д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ы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й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п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с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к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–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В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е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к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т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р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ы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й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п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с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к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(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к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с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у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с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е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с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х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д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с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т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в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Трудности: Технические проблемы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⚠️ Проблема: YouTube API ограничения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 Решение: yt-dlp + локальная транскрибация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⚠️ Проблема: Большие PDF (&gt;100 страниц)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 Решение: Стриминговая обработка, оптимизация памяти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⚠️ Проблема: Vision API для скриншотов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 Решение: Собственная обертка над GigaChat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Трудности: Алгоритмические проблемы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⚠️ Проблема: Низкая релевантность поиска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 Решение: Гибридный поиск + reranking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⚠️ Проблема: Потеря контекста при чанкинге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 Решение: Overlap + семантическое разбиение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⚠️ Проблема: HyDE ухудшал результаты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 Решение: Отключаемый HyDE, настройка параметров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Трудности: Интеграция и UX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⚠️ Проблема: Галлюцинации модели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 Решение: Строгое цитирование, проверка контекста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⚠️ Проблема: Долгое время ответа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 Решение: Кэширование, асинхронные запросы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⚠️ Проблема: Неясность источников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   Решение: Визуальное выделение цитат, ссылки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Результаты и демонстрация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✅ Рабочий прототип RAG-системы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✅ Поддержка 3+ типов источников данных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✅ Точность поиска: ~85% (top-3 релевантных)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✅ Время ответа: 2-5 секунд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✅ Интерфейс для загрузки и поиска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✅ Модульная архитектура для расширения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Выводы и направления развития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📌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В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ы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в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д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ы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–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R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A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G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э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ф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ф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е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к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т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в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е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д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л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я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р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а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б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т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ы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с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 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д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о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к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у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м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е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н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т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а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м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• 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4A3B8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Вопросы для защиты и ответы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54864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❓ Почему гибридный поиск вместо только векторного?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💡 Векторный поиск улавливает семантику, но пропускает точные совпадения терминов. BM25 дополняет его, повышая полноту на 15-20%.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8229600" cy="54864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❓ Зачем нужен HyDE и всегда ли он полезен?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💡 HyDE генерирует гипотетический ответ для улучшения поиска. Полезен для сложных запросов, но может мешать при простых фактологических вопросах.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8229600" cy="54864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❓ Почему выбрали GigaChat, а не GPT/Claude?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💡 GigaChat лучше работает с русским языком, имеет российскую юрисдикцию, дешевле в использовании и предоставляет Vision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035040"/>
            <a:ext cx="8229600" cy="54864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❓ Как боретесь с галлюцинациями?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675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💡 Строгое цитирование источников, ограничение генерации только контекстом, верификация ответов через cross-check.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