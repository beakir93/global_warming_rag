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0000" y="5760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1D5DB"/>
                </a:solidFill>
              </a:defRPr>
            </a:pPr>
            <a:r>
              <a:t>Защита проекта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51999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Проблема и Решение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792000"/>
            <a:ext cx="1080000" cy="3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080000"/>
            <a:ext cx="64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Современные системы поиска ограничены только текстовыми данными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Видеоконтент остаётся недоступным для семантического поиска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Пользователи теряют время на ручной просмотр видео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Наше решение: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Мультимодальная RAG-система объединяет текст и видео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Автоматическое описание кадров через GigaChat Vision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Гибридный поиск для максимальной точности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51999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Архитектура Системы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792000"/>
            <a:ext cx="1080000" cy="3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0" y="1080000"/>
            <a:ext cx="5760000" cy="43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0000" y="1080000"/>
            <a:ext cx="43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Пайплайн обработки данных: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Загрузка видео и текстовых документов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Генерация описаний кадров (GigaChat Vision)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Создание эмбеддингов (BGE-M3)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Сохранение в ChromaDB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Пайплайн поиска: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Многостратегический поиск (Dense+BM25+HyDE)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Слияние результатов (RRF)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Генерация ответа с цитированием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51999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Технологический Стек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792000"/>
            <a:ext cx="1080000" cy="3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080000"/>
            <a:ext cx="64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LLM: GigaChat — российская модель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Embedding: BGE-M3 — векторные представления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Vector DB: ChromaDB — хранение и поиск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Framework: LangChain — оркестрация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UI: Streamlit — веб-интерфейс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Video: OpenCV — извлечение кадров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Преимущества: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Российский стек технологий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Масштабируемая архитектура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Мультимодальность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51999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Гибридный Поиск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792000"/>
            <a:ext cx="1080000" cy="3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0" y="1080000"/>
            <a:ext cx="5760000" cy="43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0000" y="1080000"/>
            <a:ext cx="43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Dense Search (BGE-M3):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Семантическое понимание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Поиск по смыслу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BM25 (Sparse):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Лексический поиск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Точные совпадения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HyDE: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Генерация гипотетического документа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Улучшение поиска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RRF: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Объединение результатов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Максимальная точность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51999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Процесс 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792000"/>
            <a:ext cx="1080000" cy="3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0" y="1080000"/>
            <a:ext cx="5760000" cy="43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0000" y="1080000"/>
            <a:ext cx="43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Retrieve (Извлечение):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Поиск топ-K фрагментов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Фильтрация по релевантности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Augment (Обогащение):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Формирование контекста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Добавление метаданных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Generate (Генерация):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Передача в GigaChat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Ответ с цитированием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Контроль галлюцинаций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51999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Ключевые Особенности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792000"/>
            <a:ext cx="1080000" cy="3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080000"/>
            <a:ext cx="64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✓ Мультимодальность: текст и видео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✓ Система цитирования источников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✓ Отказоустойчивость при ошибках API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✓ Чанкинг по предложениям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✓ Гибкая конфигурация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✓ Веб-интерфейс Streamlit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Уникальное преимущество: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Первая система с видео на базе GigaChat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Сравнение с Аналогами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92000"/>
            <a:ext cx="1080000" cy="3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0000" y="1260000"/>
          <a:ext cx="936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3240000"/>
                <a:gridCol w="3240000"/>
              </a:tblGrid>
              <a:tr h="61714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Аспект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Наше решение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Преимущество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61714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D1D5DB"/>
                          </a:solidFill>
                        </a:defRPr>
                      </a:pPr>
                      <a:r>
                        <a:t>Поддержка видео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D1D5DB"/>
                          </a:solidFill>
                        </a:defRPr>
                      </a:pPr>
                      <a:r>
                        <a:t>Да (описание кадров)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D1D5DB"/>
                          </a:solidFill>
                        </a:defRPr>
                      </a:pPr>
                      <a:r>
                        <a:t>Нет (только текст)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1714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D1D5DB"/>
                          </a:solidFill>
                        </a:defRPr>
                      </a:pPr>
                      <a:r>
                        <a:t>Языковая модель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D1D5DB"/>
                          </a:solidFill>
                        </a:defRPr>
                      </a:pPr>
                      <a:r>
                        <a:t>GigaChat (RU)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D1D5DB"/>
                          </a:solidFill>
                        </a:defRPr>
                      </a:pPr>
                      <a:r>
                        <a:t>GPT (EN/RU)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1714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D1D5DB"/>
                          </a:solidFill>
                        </a:defRPr>
                      </a:pPr>
                      <a:r>
                        <a:t>Поиск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D1D5DB"/>
                          </a:solidFill>
                        </a:defRPr>
                      </a:pPr>
                      <a:r>
                        <a:t>Гибридный (3 стратегии)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D1D5DB"/>
                          </a:solidFill>
                        </a:defRPr>
                      </a:pPr>
                      <a:r>
                        <a:t>Обычно Dense-only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1714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D1D5DB"/>
                          </a:solidFill>
                        </a:defRPr>
                      </a:pPr>
                      <a:r>
                        <a:t>Цитирование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D1D5DB"/>
                          </a:solidFill>
                        </a:defRPr>
                      </a:pPr>
                      <a:r>
                        <a:t>Автоматическое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D1D5DB"/>
                          </a:solidFill>
                        </a:defRPr>
                      </a:pPr>
                      <a:r>
                        <a:t>Опционально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1714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D1D5DB"/>
                          </a:solidFill>
                        </a:defRPr>
                      </a:pPr>
                      <a:r>
                        <a:t>Развёртывание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D1D5DB"/>
                          </a:solidFill>
                        </a:defRPr>
                      </a:pPr>
                      <a:r>
                        <a:t>Локальное/On-premise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D1D5DB"/>
                          </a:solidFill>
                        </a:defRPr>
                      </a:pPr>
                      <a:r>
                        <a:t>Cloud-dependent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1716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D1D5DB"/>
                          </a:solidFill>
                        </a:defRPr>
                      </a:pPr>
                      <a:r>
                        <a:t>Стоимость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D1D5DB"/>
                          </a:solidFill>
                        </a:defRPr>
                      </a:pPr>
                      <a:r>
                        <a:t>Низкая (отечественное)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D1D5DB"/>
                          </a:solidFill>
                        </a:defRPr>
                      </a:pPr>
                      <a:r>
                        <a:t>Высокая (валютная)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51999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Результаты и Метрики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792000"/>
            <a:ext cx="1080000" cy="3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080000"/>
            <a:ext cx="64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Качество поиска: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MRR: ~0.85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Hit Rate@5: ~92%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Точность цитирования: 96%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Производительность: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Время ответа: &lt; 2 сек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Обработка видео: 1 кадр/2 сек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Масштаб: до 100K документов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Демонстрация готова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51999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Вопросы и Планы Развития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792000"/>
            <a:ext cx="1080000" cy="3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080000"/>
            <a:ext cx="64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Возможные вопросы: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Почему выбран GigaChat?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Как боретесь с галлюцинациями?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Как масштабировать систему?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Какие ограничения?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Планы развития: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Поддержка аудио-транскрипции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Интеграция с другими LLM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Распределённая векторная БД</a:t>
            </a:r>
          </a:p>
          <a:p>
            <a:pPr lvl="1"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Авто-оценка качества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D1D5DB"/>
                </a:solidFill>
              </a:defRPr>
            </a:pPr>
            <a:r>
              <a:t>• Спасибо за внимание! Вопросы?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5760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B82F6"/>
                </a:solidFill>
              </a:defRPr>
            </a:pPr>
            <a:r>
              <a:t>Готов ответить на ваши вопросы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